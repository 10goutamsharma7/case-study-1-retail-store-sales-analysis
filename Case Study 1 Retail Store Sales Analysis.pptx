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0" r:id="rId4"/>
    <p:sldId id="261" r:id="rId5"/>
    <p:sldId id="268" r:id="rId6"/>
    <p:sldId id="272" r:id="rId7"/>
    <p:sldId id="262" r:id="rId8"/>
    <p:sldId id="269" r:id="rId9"/>
    <p:sldId id="270" r:id="rId10"/>
    <p:sldId id="271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522F4-1FE9-4A36-A8B6-61E9E8EC3ED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C9941A0A-D821-4833-B2D0-D3DD486E5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931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522F4-1FE9-4A36-A8B6-61E9E8EC3ED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41A0A-D821-4833-B2D0-D3DD486E5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9795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0E0522F4-1FE9-4A36-A8B6-61E9E8EC3ED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C9941A0A-D821-4833-B2D0-D3DD486E5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592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522F4-1FE9-4A36-A8B6-61E9E8EC3ED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41A0A-D821-4833-B2D0-D3DD486E5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631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522F4-1FE9-4A36-A8B6-61E9E8EC3ED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41A0A-D821-4833-B2D0-D3DD486E5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256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522F4-1FE9-4A36-A8B6-61E9E8EC3ED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41A0A-D821-4833-B2D0-D3DD486E5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823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522F4-1FE9-4A36-A8B6-61E9E8EC3ED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41A0A-D821-4833-B2D0-D3DD486E5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494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522F4-1FE9-4A36-A8B6-61E9E8EC3ED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41A0A-D821-4833-B2D0-D3DD486E5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785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522F4-1FE9-4A36-A8B6-61E9E8EC3EDE}" type="datetimeFigureOut">
              <a:rPr lang="en-IN" smtClean="0"/>
              <a:t>04-02-2026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41A0A-D821-4833-B2D0-D3DD486E5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438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522F4-1FE9-4A36-A8B6-61E9E8EC3ED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41A0A-D821-4833-B2D0-D3DD486E5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289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522F4-1FE9-4A36-A8B6-61E9E8EC3ED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41A0A-D821-4833-B2D0-D3DD486E5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814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0E0522F4-1FE9-4A36-A8B6-61E9E8EC3ED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C9941A0A-D821-4833-B2D0-D3DD486E5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767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A476E-5518-29AE-333E-337DE3519B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60" y="1926771"/>
            <a:ext cx="9966960" cy="228600"/>
          </a:xfrm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Case Study 1 </a:t>
            </a:r>
            <a:br>
              <a:rPr lang="en-IN" sz="4000" dirty="0"/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21273D-7402-1BBC-62D6-62C99CB21F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8" y="2427514"/>
            <a:ext cx="8618438" cy="1741715"/>
          </a:xfrm>
        </p:spPr>
        <p:txBody>
          <a:bodyPr>
            <a:noAutofit/>
          </a:bodyPr>
          <a:lstStyle/>
          <a:p>
            <a:pPr algn="ctr"/>
            <a:r>
              <a:rPr lang="en-IN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📄 FashionWave Retail Store </a:t>
            </a:r>
            <a:br>
              <a:rPr lang="en-IN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Analysis Report</a:t>
            </a:r>
            <a:endParaRPr lang="en-IN" sz="4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393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4CDC6-7ACA-0077-010D-42AE9F062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752" y="484632"/>
            <a:ext cx="10064496" cy="799882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4CC1C-D269-BB71-DAFD-95F484DA7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752" y="1545771"/>
            <a:ext cx="10064496" cy="4626430"/>
          </a:xfrm>
        </p:spPr>
        <p:txBody>
          <a:bodyPr/>
          <a:lstStyle/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FashionWave operates 50 stores across India.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Weekday sales are stable, but weekend sales are stagnant.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Objectives: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Boost weekend sales by 15% next quarter.</a:t>
            </a:r>
            <a:endParaRPr lang="en-IN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product-level profitability.</a:t>
            </a:r>
            <a:endParaRPr lang="en-IN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 discount strategies.</a:t>
            </a:r>
            <a:endParaRPr lang="en-IN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052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1C550-5ED0-9B3B-E198-B9A61CD64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061139"/>
          </a:xfrm>
        </p:spPr>
        <p:txBody>
          <a:bodyPr>
            <a:normAutofit fontScale="90000"/>
          </a:bodyPr>
          <a:lstStyle/>
          <a:p>
            <a:r>
              <a:rPr lang="en-IN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Dataset Overview</a:t>
            </a:r>
            <a:br>
              <a:rPr lang="en-IN" dirty="0"/>
            </a:br>
            <a:endParaRPr lang="en-IN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FE8CC-4E73-8C4C-EFE0-8E2072412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415143"/>
            <a:ext cx="10058400" cy="4757057"/>
          </a:xfrm>
        </p:spPr>
        <p:txBody>
          <a:bodyPr>
            <a:normAutofit/>
          </a:bodyPr>
          <a:lstStyle/>
          <a:p>
            <a:pPr lvl="0"/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File: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fashionwave_sales.csv</a:t>
            </a:r>
          </a:p>
          <a:p>
            <a:pPr lvl="0"/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Columns: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dirty="0" err="1">
                <a:solidFill>
                  <a:srgbClr val="000000"/>
                </a:solidFill>
                <a:latin typeface="Calibri" panose="020F0502020204030204" pitchFamily="34" charset="0"/>
              </a:rPr>
              <a:t>InvoiceNo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</a:rPr>
              <a:t>Date</a:t>
            </a:r>
          </a:p>
          <a:p>
            <a:pPr lvl="1"/>
            <a:r>
              <a:rPr lang="en-IN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StoreID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ProductID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Category</a:t>
            </a:r>
          </a:p>
          <a:p>
            <a:pPr lvl="1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Quantity</a:t>
            </a:r>
          </a:p>
          <a:p>
            <a:pPr lvl="1"/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UnitPrice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Discount</a:t>
            </a:r>
          </a:p>
          <a:p>
            <a:pPr lvl="1"/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CostPerUnit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CustomerType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(New/Returning)</a:t>
            </a:r>
          </a:p>
          <a:p>
            <a:pPr lvl="1"/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PaymentMode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59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F16A5-5F84-7E3D-1AA6-B7BF6A6D8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A3633-3CDA-0654-CC98-DA3145825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930511"/>
          </a:xfrm>
        </p:spPr>
        <p:txBody>
          <a:bodyPr>
            <a:normAutofit/>
          </a:bodyPr>
          <a:lstStyle/>
          <a:p>
            <a:r>
              <a:rPr lang="en-IN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Key KPIs</a:t>
            </a:r>
            <a:endParaRPr lang="en-IN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71890-6186-65FE-9CED-548B3EAAE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545771"/>
            <a:ext cx="10058400" cy="4626429"/>
          </a:xfrm>
        </p:spPr>
        <p:txBody>
          <a:bodyPr>
            <a:normAutofit/>
          </a:bodyPr>
          <a:lstStyle/>
          <a:p>
            <a:pPr lvl="0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Sales: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Weekly revenue per store.</a:t>
            </a:r>
          </a:p>
          <a:p>
            <a:pPr lvl="0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Order Value (AOV):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Revenue ÷ Transactions.</a:t>
            </a:r>
          </a:p>
          <a:p>
            <a:pPr lvl="0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Profit Margin: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(Revenue – Cost) ÷ Revenue.</a:t>
            </a:r>
          </a:p>
          <a:p>
            <a:pPr lvl="0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Units Sold per Product: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Category-level wise performance.</a:t>
            </a:r>
          </a:p>
          <a:p>
            <a:pPr lvl="0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Discount Impact: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Margin difference with vs. without discounts.</a:t>
            </a:r>
          </a:p>
          <a:p>
            <a:pPr lvl="0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Weekend vs Weekday Ratio: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Sales comparison.</a:t>
            </a:r>
          </a:p>
        </p:txBody>
      </p:sp>
    </p:spTree>
    <p:extLst>
      <p:ext uri="{BB962C8B-B14F-4D97-AF65-F5344CB8AC3E}">
        <p14:creationId xmlns:p14="http://schemas.microsoft.com/office/powerpoint/2010/main" val="560228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78B96-B89E-8689-2445-17D5946F2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C6058-0EE2-4944-FC52-10BEB3038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20544"/>
            <a:ext cx="10058400" cy="672086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C43790-2BBD-993B-3057-FCBFF1346B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031312"/>
            <a:ext cx="9798288" cy="5511002"/>
          </a:xfrm>
        </p:spPr>
      </p:pic>
    </p:spTree>
    <p:extLst>
      <p:ext uri="{BB962C8B-B14F-4D97-AF65-F5344CB8AC3E}">
        <p14:creationId xmlns:p14="http://schemas.microsoft.com/office/powerpoint/2010/main" val="807049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0B810-9C5C-1A98-293E-D52DA7DAF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723682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Visual Storytelling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3278167-F8DC-4CA3-E553-C12F93E087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0943300"/>
              </p:ext>
            </p:extLst>
          </p:nvPr>
        </p:nvGraphicFramePr>
        <p:xfrm>
          <a:off x="1069975" y="1545771"/>
          <a:ext cx="10058400" cy="3698058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1128263642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997893453"/>
                    </a:ext>
                  </a:extLst>
                </a:gridCol>
              </a:tblGrid>
              <a:tr h="616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Represents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6891467"/>
                  </a:ext>
                </a:extLst>
              </a:tr>
              <a:tr h="616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Profit Margin Cards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Shows how discount reduces profit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7999762"/>
                  </a:ext>
                </a:extLst>
              </a:tr>
              <a:tr h="616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Units Sold by 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Identifies best and worst-selling categories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2531847"/>
                  </a:ext>
                </a:extLst>
              </a:tr>
              <a:tr h="616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Store Revenue 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Highlights top &amp; underperforming stores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5444190"/>
                  </a:ext>
                </a:extLst>
              </a:tr>
              <a:tr h="616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Weekend vs Weekday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Shows weak weekend contribution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3279551"/>
                  </a:ext>
                </a:extLst>
              </a:tr>
              <a:tr h="616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AOV Card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Shows customer spending behaviour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8095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4437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F556E-B35E-8BDD-B0AF-8D1AB22F0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73746"/>
            <a:ext cx="10058400" cy="574561"/>
          </a:xfrm>
        </p:spPr>
        <p:txBody>
          <a:bodyPr>
            <a:normAutofit fontScale="90000"/>
          </a:bodyPr>
          <a:lstStyle/>
          <a:p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E2C83-C620-5E7F-CFB8-71C6D0C04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279071"/>
            <a:ext cx="10058400" cy="4299857"/>
          </a:xfrm>
        </p:spPr>
        <p:txBody>
          <a:bodyPr/>
          <a:lstStyle/>
          <a:p>
            <a:pPr marL="0" indent="0">
              <a:buNone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📊 Summary Statistics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646D839-E092-4117-5C6F-AD477BBC65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251661"/>
              </p:ext>
            </p:extLst>
          </p:nvPr>
        </p:nvGraphicFramePr>
        <p:xfrm>
          <a:off x="1317171" y="1872341"/>
          <a:ext cx="9329379" cy="4125686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3109793">
                  <a:extLst>
                    <a:ext uri="{9D8B030D-6E8A-4147-A177-3AD203B41FA5}">
                      <a16:colId xmlns:a16="http://schemas.microsoft.com/office/drawing/2014/main" val="1216216382"/>
                    </a:ext>
                  </a:extLst>
                </a:gridCol>
                <a:gridCol w="3109793">
                  <a:extLst>
                    <a:ext uri="{9D8B030D-6E8A-4147-A177-3AD203B41FA5}">
                      <a16:colId xmlns:a16="http://schemas.microsoft.com/office/drawing/2014/main" val="3344216718"/>
                    </a:ext>
                  </a:extLst>
                </a:gridCol>
                <a:gridCol w="3109793">
                  <a:extLst>
                    <a:ext uri="{9D8B030D-6E8A-4147-A177-3AD203B41FA5}">
                      <a16:colId xmlns:a16="http://schemas.microsoft.com/office/drawing/2014/main" val="1719069196"/>
                    </a:ext>
                  </a:extLst>
                </a:gridCol>
              </a:tblGrid>
              <a:tr h="3421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KPI</a:t>
                      </a:r>
                    </a:p>
                  </a:txBody>
                  <a:tcPr marL="82680" marR="82680" marT="41340" marB="413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Value</a:t>
                      </a:r>
                    </a:p>
                  </a:txBody>
                  <a:tcPr marL="82680" marR="82680" marT="41340" marB="413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Insight</a:t>
                      </a:r>
                    </a:p>
                  </a:txBody>
                  <a:tcPr marL="82680" marR="82680" marT="41340" marB="41340" anchor="ctr"/>
                </a:tc>
                <a:extLst>
                  <a:ext uri="{0D108BD9-81ED-4DB2-BD59-A6C34878D82A}">
                    <a16:rowId xmlns:a16="http://schemas.microsoft.com/office/drawing/2014/main" val="1193706072"/>
                  </a:ext>
                </a:extLst>
              </a:tr>
              <a:tr h="597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Profit Margin with Discount</a:t>
                      </a:r>
                      <a:endParaRPr lang="en-IN" sz="16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680" marR="82680" marT="41340" marB="413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25.11%</a:t>
                      </a:r>
                      <a:endParaRPr lang="en-IN" sz="16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680" marR="82680" marT="41340" marB="413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Discounts significantly reduce overall profit.</a:t>
                      </a:r>
                    </a:p>
                  </a:txBody>
                  <a:tcPr marL="82680" marR="82680" marT="41340" marB="41340" anchor="ctr"/>
                </a:tc>
                <a:extLst>
                  <a:ext uri="{0D108BD9-81ED-4DB2-BD59-A6C34878D82A}">
                    <a16:rowId xmlns:a16="http://schemas.microsoft.com/office/drawing/2014/main" val="2439049599"/>
                  </a:ext>
                </a:extLst>
              </a:tr>
              <a:tr h="597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Profit Margin without Discount</a:t>
                      </a:r>
                      <a:endParaRPr lang="en-IN" sz="16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680" marR="82680" marT="41340" marB="413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34.65%</a:t>
                      </a:r>
                      <a:endParaRPr lang="en-IN" sz="16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680" marR="82680" marT="41340" marB="413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Baseline margin is healthy before promotions.</a:t>
                      </a:r>
                    </a:p>
                  </a:txBody>
                  <a:tcPr marL="82680" marR="82680" marT="41340" marB="41340" anchor="ctr"/>
                </a:tc>
                <a:extLst>
                  <a:ext uri="{0D108BD9-81ED-4DB2-BD59-A6C34878D82A}">
                    <a16:rowId xmlns:a16="http://schemas.microsoft.com/office/drawing/2014/main" val="2781644822"/>
                  </a:ext>
                </a:extLst>
              </a:tr>
              <a:tr h="597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Discount Impact</a:t>
                      </a:r>
                      <a:endParaRPr lang="en-IN" sz="16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680" marR="82680" marT="41340" marB="413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9.53%</a:t>
                      </a:r>
                      <a:endParaRPr lang="en-IN" sz="16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680" marR="82680" marT="41340" marB="413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Almost 10% margin loss due to discount strategy.</a:t>
                      </a:r>
                    </a:p>
                  </a:txBody>
                  <a:tcPr marL="82680" marR="82680" marT="41340" marB="41340" anchor="ctr"/>
                </a:tc>
                <a:extLst>
                  <a:ext uri="{0D108BD9-81ED-4DB2-BD59-A6C34878D82A}">
                    <a16:rowId xmlns:a16="http://schemas.microsoft.com/office/drawing/2014/main" val="1963787041"/>
                  </a:ext>
                </a:extLst>
              </a:tr>
              <a:tr h="573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Overall Profit Margin</a:t>
                      </a:r>
                      <a:endParaRPr lang="en-IN" sz="16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680" marR="82680" marT="41340" marB="413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28.87%</a:t>
                      </a:r>
                      <a:endParaRPr lang="en-IN" sz="16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680" marR="82680" marT="41340" marB="413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Indicates moderate profitability.</a:t>
                      </a:r>
                    </a:p>
                  </a:txBody>
                  <a:tcPr marL="82680" marR="82680" marT="41340" marB="41340" anchor="ctr"/>
                </a:tc>
                <a:extLst>
                  <a:ext uri="{0D108BD9-81ED-4DB2-BD59-A6C34878D82A}">
                    <a16:rowId xmlns:a16="http://schemas.microsoft.com/office/drawing/2014/main" val="522846576"/>
                  </a:ext>
                </a:extLst>
              </a:tr>
              <a:tr h="597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Average Order Value (AOV)</a:t>
                      </a:r>
                      <a:endParaRPr lang="en-IN" sz="16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680" marR="82680" marT="41340" marB="413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₹4,912</a:t>
                      </a:r>
                      <a:endParaRPr lang="en-IN" sz="16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680" marR="82680" marT="41340" marB="413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Customers are placing medium-value orders.</a:t>
                      </a:r>
                    </a:p>
                  </a:txBody>
                  <a:tcPr marL="82680" marR="82680" marT="41340" marB="41340" anchor="ctr"/>
                </a:tc>
                <a:extLst>
                  <a:ext uri="{0D108BD9-81ED-4DB2-BD59-A6C34878D82A}">
                    <a16:rowId xmlns:a16="http://schemas.microsoft.com/office/drawing/2014/main" val="2711694308"/>
                  </a:ext>
                </a:extLst>
              </a:tr>
              <a:tr h="8193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Weekend vs Weekday Ratio</a:t>
                      </a:r>
                      <a:endParaRPr lang="en-IN" sz="16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680" marR="82680" marT="41340" marB="413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49.96%</a:t>
                      </a:r>
                      <a:endParaRPr lang="en-IN" sz="16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680" marR="82680" marT="41340" marB="413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Nearly equal contribution – no strong weekend dependency.</a:t>
                      </a:r>
                    </a:p>
                  </a:txBody>
                  <a:tcPr marL="82680" marR="82680" marT="41340" marB="41340" anchor="ctr"/>
                </a:tc>
                <a:extLst>
                  <a:ext uri="{0D108BD9-81ED-4DB2-BD59-A6C34878D82A}">
                    <a16:rowId xmlns:a16="http://schemas.microsoft.com/office/drawing/2014/main" val="374690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4881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E5868-A008-283E-A77F-A9D2DB3DC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598714"/>
            <a:ext cx="10058400" cy="55734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📦 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Performance – Units Sold</a:t>
            </a: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Clothing &amp; Accessories contribute nearly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70% of total unit sales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Accessories are the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revenue generator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although 2</a:t>
            </a:r>
            <a:r>
              <a:rPr lang="en-US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highest contributor in sales.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1DA9E5C-9EB9-0E2C-747B-A943FD1EB4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754015"/>
              </p:ext>
            </p:extLst>
          </p:nvPr>
        </p:nvGraphicFramePr>
        <p:xfrm>
          <a:off x="1066800" y="1143000"/>
          <a:ext cx="10058400" cy="228600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1647200588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77647322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6183713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Product 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Units Sold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Insight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5197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Clothing</a:t>
                      </a:r>
                      <a:endParaRPr lang="en-IN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Highest demand – primary revenue driver.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1959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Accessories</a:t>
                      </a:r>
                      <a:endParaRPr lang="en-IN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Almost equal to Clothing – strong upsell category.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0418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Shoes</a:t>
                      </a:r>
                      <a:endParaRPr lang="en-I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Slightly lower – opportunity to improve promotions.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55109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0205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1673B-6971-57AA-6036-E7B9E97E9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752" y="598714"/>
            <a:ext cx="10058400" cy="5660571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🏬 Store-wise Revenue Analysis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Store 2 is the top-performing store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best candidate for benchmarking strategies.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Store 4 underperforms compared to others — may need marketing or pricing review.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507E95C-3479-3D93-0139-B1F66320E6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880487"/>
              </p:ext>
            </p:extLst>
          </p:nvPr>
        </p:nvGraphicFramePr>
        <p:xfrm>
          <a:off x="1063752" y="1220469"/>
          <a:ext cx="10058400" cy="2633076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674719385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582841001"/>
                    </a:ext>
                  </a:extLst>
                </a:gridCol>
              </a:tblGrid>
              <a:tr h="438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Store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Revenue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6327518"/>
                  </a:ext>
                </a:extLst>
              </a:tr>
              <a:tr h="438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Store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₹5,38,334.7</a:t>
                      </a:r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(Highest)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1122306"/>
                  </a:ext>
                </a:extLst>
              </a:tr>
              <a:tr h="438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Store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₹5,13,854.2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051216"/>
                  </a:ext>
                </a:extLst>
              </a:tr>
              <a:tr h="438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Store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₹4,82,324.6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559502"/>
                  </a:ext>
                </a:extLst>
              </a:tr>
              <a:tr h="438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Store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₹4,51,565.0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174401"/>
                  </a:ext>
                </a:extLst>
              </a:tr>
              <a:tr h="438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Store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₹4,70,098.7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48756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6678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42421-1E5B-62B5-49B0-CC4189FF8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C27BB-9128-C8AF-53B2-02B3624F0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720758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Overall Business Health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53D4167-A70A-7528-6D40-0BAD80ADD6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0306494"/>
              </p:ext>
            </p:extLst>
          </p:nvPr>
        </p:nvGraphicFramePr>
        <p:xfrm>
          <a:off x="1069848" y="1513114"/>
          <a:ext cx="10058529" cy="4443972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3352843">
                  <a:extLst>
                    <a:ext uri="{9D8B030D-6E8A-4147-A177-3AD203B41FA5}">
                      <a16:colId xmlns:a16="http://schemas.microsoft.com/office/drawing/2014/main" val="73189406"/>
                    </a:ext>
                  </a:extLst>
                </a:gridCol>
                <a:gridCol w="3352843">
                  <a:extLst>
                    <a:ext uri="{9D8B030D-6E8A-4147-A177-3AD203B41FA5}">
                      <a16:colId xmlns:a16="http://schemas.microsoft.com/office/drawing/2014/main" val="3401808058"/>
                    </a:ext>
                  </a:extLst>
                </a:gridCol>
                <a:gridCol w="3352843">
                  <a:extLst>
                    <a:ext uri="{9D8B030D-6E8A-4147-A177-3AD203B41FA5}">
                      <a16:colId xmlns:a16="http://schemas.microsoft.com/office/drawing/2014/main" val="2310549726"/>
                    </a:ext>
                  </a:extLst>
                </a:gridCol>
              </a:tblGrid>
              <a:tr h="621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8307521"/>
                  </a:ext>
                </a:extLst>
              </a:tr>
              <a:tr h="621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Profitability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⚠ 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Profit is affected due to high discounts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1838279"/>
                  </a:ext>
                </a:extLst>
              </a:tr>
              <a:tr h="621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Sales Stability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✅ Strong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Sales are consistent across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7535103"/>
                  </a:ext>
                </a:extLst>
              </a:tr>
              <a:tr h="621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Product Demand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✅ High (Clothing &amp; Accessories)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These are the top-selling categories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2032157"/>
                  </a:ext>
                </a:extLst>
              </a:tr>
              <a:tr h="621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Discount Strategy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❌ Needs 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Current discount policy is reducing margins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8148279"/>
                  </a:ext>
                </a:extLst>
              </a:tr>
              <a:tr h="621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Store Performance Variance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⚠ 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Some stores perform better than others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1619903"/>
                  </a:ext>
                </a:extLst>
              </a:tr>
              <a:tr h="621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Weekend vs Weekday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⚠ Average (≈50–50)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strong weekend boost — growth opportunity exists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0065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0590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9FA89-9131-BDEB-2509-05A3AAE22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720758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 Recommendations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CBFDF9E-5ED6-C5E0-9470-1B4CA05369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0505542"/>
              </p:ext>
            </p:extLst>
          </p:nvPr>
        </p:nvGraphicFramePr>
        <p:xfrm>
          <a:off x="1066737" y="1286815"/>
          <a:ext cx="10058526" cy="5086553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3352842">
                  <a:extLst>
                    <a:ext uri="{9D8B030D-6E8A-4147-A177-3AD203B41FA5}">
                      <a16:colId xmlns:a16="http://schemas.microsoft.com/office/drawing/2014/main" val="1003912528"/>
                    </a:ext>
                  </a:extLst>
                </a:gridCol>
                <a:gridCol w="3352842">
                  <a:extLst>
                    <a:ext uri="{9D8B030D-6E8A-4147-A177-3AD203B41FA5}">
                      <a16:colId xmlns:a16="http://schemas.microsoft.com/office/drawing/2014/main" val="932442262"/>
                    </a:ext>
                  </a:extLst>
                </a:gridCol>
                <a:gridCol w="3352842">
                  <a:extLst>
                    <a:ext uri="{9D8B030D-6E8A-4147-A177-3AD203B41FA5}">
                      <a16:colId xmlns:a16="http://schemas.microsoft.com/office/drawing/2014/main" val="2258548572"/>
                    </a:ext>
                  </a:extLst>
                </a:gridCol>
              </a:tblGrid>
              <a:tr h="4279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Problem Found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It Means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Simple 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9400900"/>
                  </a:ext>
                </a:extLst>
              </a:tr>
              <a:tr h="748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Profit margin drops due to discount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Too much discount is reducing profit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Stop giving discount on all products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9833764"/>
                  </a:ext>
                </a:extLst>
              </a:tr>
              <a:tr h="748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Shoes have low sales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Customers buy fewer shoes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Give more offers only on Shoes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5403432"/>
                  </a:ext>
                </a:extLst>
              </a:tr>
              <a:tr h="748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Clothing &amp; Accessories sell more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These products are in high demand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Keep price stable, reduce discount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5747254"/>
                  </a:ext>
                </a:extLst>
              </a:tr>
              <a:tr h="748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Store 4 earns less revenue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Store 4 is underperforming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Improve promotion &amp; product variety in Store 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072303"/>
                  </a:ext>
                </a:extLst>
              </a:tr>
              <a:tr h="748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Average order value is ₹4,912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Customers buy few items per 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Create combo offers to increase bill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0625313"/>
                  </a:ext>
                </a:extLst>
              </a:tr>
              <a:tr h="748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Limited product-level insights</a:t>
                      </a:r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 is available only at category level (e.g., Clothing)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Request sub-category data (e.g., T-shirts, Jeans, Jackets) for deeper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61342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09899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166</TotalTime>
  <Words>617</Words>
  <Application>Microsoft Office PowerPoint</Application>
  <PresentationFormat>Widescreen</PresentationFormat>
  <Paragraphs>164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Calibri</vt:lpstr>
      <vt:lpstr>Rockwell</vt:lpstr>
      <vt:lpstr>Rockwell Condensed</vt:lpstr>
      <vt:lpstr>Times New Roman</vt:lpstr>
      <vt:lpstr>Wingdings</vt:lpstr>
      <vt:lpstr>Wood Type</vt:lpstr>
      <vt:lpstr>Case Study 1  </vt:lpstr>
      <vt:lpstr>1. Executive Summary</vt:lpstr>
      <vt:lpstr>2. Dataset Overview </vt:lpstr>
      <vt:lpstr>3. Key KPIs</vt:lpstr>
      <vt:lpstr>4. DASHBOARD</vt:lpstr>
      <vt:lpstr>5. Visual Storytelling</vt:lpstr>
      <vt:lpstr>6. Exploratory Data Analysis (EDA)</vt:lpstr>
      <vt:lpstr>PowerPoint Presentation</vt:lpstr>
      <vt:lpstr>PowerPoint Presentation</vt:lpstr>
      <vt:lpstr>7. Overall Business Health</vt:lpstr>
      <vt:lpstr>8.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goutam sharma</dc:creator>
  <cp:lastModifiedBy>goutam sharma</cp:lastModifiedBy>
  <cp:revision>4</cp:revision>
  <dcterms:created xsi:type="dcterms:W3CDTF">2026-01-02T14:31:49Z</dcterms:created>
  <dcterms:modified xsi:type="dcterms:W3CDTF">2026-02-04T18:22:22Z</dcterms:modified>
</cp:coreProperties>
</file>